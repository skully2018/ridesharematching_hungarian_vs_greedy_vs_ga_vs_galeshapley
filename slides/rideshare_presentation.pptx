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4" r:id="rId11"/>
    <p:sldId id="265" r:id="rId12"/>
    <p:sldId id="266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32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03405"/>
            <a:ext cx="73152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32201"/>
            <a:ext cx="73152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0" y="4323845"/>
            <a:ext cx="229742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4400" y="4323846"/>
            <a:ext cx="48806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430867"/>
            <a:ext cx="21717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274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70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4"/>
            <a:ext cx="7955280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3641726"/>
            <a:ext cx="7955281" cy="1354134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839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360" y="2194560"/>
            <a:ext cx="3910579" cy="4069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2099" y="2194560"/>
            <a:ext cx="3907540" cy="4069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289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2000"/>
            <a:ext cx="637794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1279" y="2183802"/>
            <a:ext cx="3683659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4359" y="3132667"/>
            <a:ext cx="3910579" cy="31309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9018" y="2183802"/>
            <a:ext cx="368062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2098" y="3132667"/>
            <a:ext cx="3907541" cy="31309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32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600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26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30861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6760"/>
            <a:ext cx="4663440" cy="551688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308610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702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407573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77524" y="751242"/>
            <a:ext cx="3674234" cy="551239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407573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172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55" y="4697361"/>
            <a:ext cx="7956482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4355" y="977035"/>
            <a:ext cx="7950260" cy="340697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5516716"/>
            <a:ext cx="7955280" cy="746924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04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3"/>
            <a:ext cx="795528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649134"/>
            <a:ext cx="7772400" cy="1330852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491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753534"/>
            <a:ext cx="7613650" cy="2756234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3509768"/>
            <a:ext cx="7194552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174597"/>
            <a:ext cx="7778752" cy="821265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9438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31458" y="80772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733" y="302133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66254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124702"/>
            <a:ext cx="7774782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92" y="3648316"/>
            <a:ext cx="7773608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78884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8884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2269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762000"/>
            <a:ext cx="637793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94361" y="2202080"/>
            <a:ext cx="2560320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9436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02237" y="2201333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00781" y="2904068"/>
            <a:ext cx="2560320" cy="335957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9319" y="2192866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932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0902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2" y="762000"/>
            <a:ext cx="6381984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94360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94360" y="2331720"/>
            <a:ext cx="2560320" cy="15073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94360" y="4796103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91873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91872" y="2331720"/>
            <a:ext cx="2560320" cy="1509862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90858" y="4796102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93365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93364" y="2331721"/>
            <a:ext cx="2560320" cy="1508919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93272" y="4796100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6830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2194560"/>
            <a:ext cx="7955280" cy="40690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6182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6590" y="747183"/>
            <a:ext cx="1543050" cy="424867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746126"/>
            <a:ext cx="6278035" cy="42497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295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37794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194560"/>
            <a:ext cx="7955280" cy="4069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12230" y="6356351"/>
            <a:ext cx="2137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4360" y="6355846"/>
            <a:ext cx="56807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381001"/>
            <a:ext cx="19773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7619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Ride-Share Matching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Comparing Optimal, Stable, and Heuristic Methods</a:t>
            </a:r>
          </a:p>
          <a:p>
            <a:r>
              <a:t>Michael Lamberth &amp; Timothy Chow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Match drivers to riders using weighted bipartite matching.</a:t>
            </a:r>
          </a:p>
          <a:p>
            <a:r>
              <a:t>Goal: maximize score while considering distance.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Hungarian (optimal)</a:t>
            </a:r>
          </a:p>
          <a:p>
            <a:r>
              <a:t>Greedy (fast)</a:t>
            </a:r>
          </a:p>
          <a:p>
            <a:r>
              <a:t>Gale–Shapley (stable)</a:t>
            </a:r>
          </a:p>
          <a:p>
            <a:r>
              <a:t>Genetic Algorithm (heuristic)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Runtime scaling?</a:t>
            </a:r>
          </a:p>
          <a:p>
            <a:r>
              <a:t>How close to optimal?</a:t>
            </a:r>
          </a:p>
          <a:p>
            <a:r>
              <a:t>Stability vs score?</a:t>
            </a:r>
          </a:p>
          <a:p>
            <a:r>
              <a:t>Does GA outperform greedy?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 implementation</a:t>
            </a:r>
          </a:p>
          <a:p>
            <a:r>
              <a:t>Random 2D instances</a:t>
            </a:r>
          </a:p>
          <a:p>
            <a:r>
              <a:t>Sizes: 50, 100, 150</a:t>
            </a:r>
          </a:p>
          <a:p>
            <a:r>
              <a:t>Multiple trials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Scoring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Score = max(0, 1000 - distance)</a:t>
            </a:r>
          </a:p>
          <a:p>
            <a:r>
              <a:t>Encourages short pickup distance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09816D-B386-EF44-2350-7FCE30616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9" y="3226946"/>
            <a:ext cx="5289755" cy="317385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Runtime</a:t>
            </a:r>
          </a:p>
          <a:p>
            <a:r>
              <a:t>Total score</a:t>
            </a:r>
          </a:p>
          <a:p>
            <a:r>
              <a:t>Matches</a:t>
            </a:r>
          </a:p>
          <a:p>
            <a:r>
              <a:t>Avg distance</a:t>
            </a:r>
          </a:p>
          <a:p>
            <a:r>
              <a:t>Quality vs Hungarian</a:t>
            </a:r>
          </a:p>
          <a:p>
            <a:r>
              <a:t>Stability violations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Hungarian: best score, slow</a:t>
            </a:r>
          </a:p>
          <a:p>
            <a:r>
              <a:t>Greedy: fastest</a:t>
            </a:r>
          </a:p>
          <a:p>
            <a:r>
              <a:t>Gale–Shapley: stable</a:t>
            </a:r>
          </a:p>
          <a:p>
            <a:r>
              <a:t>Genetic: mixed performance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73B95-F1B6-E6DA-0858-EA812DC86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820" y="764373"/>
            <a:ext cx="5124450" cy="1293028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Matches vs quality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3A61AAE-EBFE-FFED-5960-1680C1C77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820" y="2194560"/>
            <a:ext cx="3733554" cy="402412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Hungarian: </a:t>
            </a:r>
          </a:p>
          <a:p>
            <a:r>
              <a:rPr lang="en-US" dirty="0"/>
              <a:t>High number of matches + highest total score (optimal)</a:t>
            </a:r>
          </a:p>
          <a:p>
            <a:endParaRPr lang="en-US" dirty="0"/>
          </a:p>
          <a:p>
            <a:r>
              <a:rPr lang="en-US" dirty="0"/>
              <a:t>Greedy: High match count, slightly lower quality</a:t>
            </a:r>
          </a:p>
          <a:p>
            <a:r>
              <a:rPr lang="en-US" dirty="0"/>
              <a:t>Performance gap grows with size</a:t>
            </a:r>
          </a:p>
          <a:p>
            <a:endParaRPr lang="en-US" dirty="0"/>
          </a:p>
          <a:p>
            <a:r>
              <a:rPr lang="en-US" dirty="0"/>
              <a:t>Gale–Shapley: Fewer or constrained matches</a:t>
            </a:r>
          </a:p>
          <a:p>
            <a:r>
              <a:rPr lang="en-US" dirty="0"/>
              <a:t> Prioritizes stability over total score</a:t>
            </a:r>
          </a:p>
          <a:p>
            <a:endParaRPr lang="en-US" dirty="0"/>
          </a:p>
          <a:p>
            <a:r>
              <a:rPr lang="en-US" dirty="0"/>
              <a:t>Genetic Algorithm: Match count like greedy</a:t>
            </a:r>
          </a:p>
          <a:p>
            <a:r>
              <a:rPr lang="en-US" dirty="0"/>
              <a:t> Quality varies depending on evolution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193A55-7D0A-299E-C07E-8562163CF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210" y="998084"/>
            <a:ext cx="4593315" cy="239295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11F103A-70C3-8979-DB37-308A6A24E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210" y="3711458"/>
            <a:ext cx="4593315" cy="250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82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Tradeoffs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Optimality vs speed</a:t>
            </a:r>
          </a:p>
          <a:p>
            <a:r>
              <a:t>Stability vs score</a:t>
            </a:r>
          </a:p>
          <a:p>
            <a:r>
              <a:t>Heuristic flexibility vs consistency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0B3FB3-792D-668F-DF37-F363F0834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06" y="3660550"/>
            <a:ext cx="4381092" cy="26030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7FCCEB-4590-9061-E34F-031998B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638" y="3660550"/>
            <a:ext cx="4285555" cy="26030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data</a:t>
            </a:r>
          </a:p>
          <a:p>
            <a:r>
              <a:t>Limited tuning</a:t>
            </a:r>
          </a:p>
          <a:p>
            <a:r>
              <a:t>No fixed seeds</a:t>
            </a:r>
          </a:p>
          <a:p>
            <a:r>
              <a:t>Moderate sizes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Tune GA</a:t>
            </a:r>
          </a:p>
          <a:p>
            <a:r>
              <a:t>Use real data</a:t>
            </a:r>
          </a:p>
          <a:p>
            <a:r>
              <a:t>Hybrid algorithms</a:t>
            </a:r>
          </a:p>
          <a:p>
            <a:r>
              <a:t>Larger experiments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Different algorithms excel in different goals.</a:t>
            </a:r>
          </a:p>
          <a:p>
            <a:r>
              <a:t>No single best solution for all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40</TotalTime>
  <Words>246</Words>
  <Application>Microsoft Office PowerPoint</Application>
  <PresentationFormat>On-screen Show (4:3)</PresentationFormat>
  <Paragraphs>65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Century Gothic</vt:lpstr>
      <vt:lpstr>Vapor Trail</vt:lpstr>
      <vt:lpstr>Ride-Share Matching Algorithms</vt:lpstr>
      <vt:lpstr>Problem Overview</vt:lpstr>
      <vt:lpstr>Algorithms Used</vt:lpstr>
      <vt:lpstr>Research Questions</vt:lpstr>
      <vt:lpstr>Experiment Setup</vt:lpstr>
      <vt:lpstr>Scoring Model</vt:lpstr>
      <vt:lpstr>Metrics</vt:lpstr>
      <vt:lpstr>Results Summary</vt:lpstr>
      <vt:lpstr>Matches vs quality</vt:lpstr>
      <vt:lpstr>Key Tradeoffs</vt:lpstr>
      <vt:lpstr>Limitations</vt:lpstr>
      <vt:lpstr>Future Work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Lamberth, Michael (mslamberth42)</cp:lastModifiedBy>
  <cp:revision>3</cp:revision>
  <dcterms:created xsi:type="dcterms:W3CDTF">2013-01-27T09:14:16Z</dcterms:created>
  <dcterms:modified xsi:type="dcterms:W3CDTF">2026-04-27T18:35:59Z</dcterms:modified>
  <cp:category/>
</cp:coreProperties>
</file>